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3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This deck presents the end-to-end CityFoam RAG chatbot project: the business problem, architecture, MLOps design, evaluation metrics, deployment strategy, and future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presentation will move from project motivation to technical system design, followed by evaluation, deployment, business impact,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Why CityFoam needed a knowledge-grounded AI support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need is not only automation. It is reliable, knowledge-grounded automation that handles repetitive support questions without inventing product or policy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was to build a complete system: data pipeline, RAG retrieval, generation, APIs, monitoring, retraining, deployment, and KPI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concept is retrieval before generation. The model is not answering from general knowledge; it uses retrieved CityFoam context and strict response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designed as a support automation layer for common inquiries. Complex or missing-information cases should be escalated to humans.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was organized into ingestion, RAG pipeline, optimization, and deployment. This structure also maps to the final report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combines FastAPI, Azure OpenAI, MiniLM embeddings, ChromaDB, Docker, Azure services, and MLflow/dashboard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RAG quality starts with clean, structured, retrievable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sources are product and price files, refund policy documents, and branch spreadsheets. These are the knowledge base for the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ingestion pipeline is separated from online answering. It runs when the knowledge base is created or updated, while the API uses an already-built vector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Pandas for spreadsheets, PyMuPDF4LLM for PDF-to-Markdown, and Unstructured for Word/text files. This reduced loss of context in product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Arabic normalization is critical for customer queries because spelling variations and missing diacritics can create false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was tuned to preserve enough information in each chunk while avoiding too much irrelevant context in the LLM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golden dataset included pricing, policy, location, product feature, and warranty questions in multiple input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EDA step confirmed that chunks were stored correctly and helped identify weak cases before final system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early errors were useful because they showed where to improve: table extraction, query optimization, and retrieval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corpus contains text chunks, embeddings, metadata, and IDs. It is stored in persistent ChromaDB and retrieved during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How the system retrieves, reasons, answers, and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the user side, admin side, API, ChromaDB, Azure OpenAI, and monitoring/dashboard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RAG workflow reduces hallucination by requiring retrieval before answer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document chunks and user queries use the same multilingual MiniLM embedding model, which makes semantic similarity search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retriever adjusts the retrieval limit by intent to balance recall and precision. Product catalogs and list queries need more context than general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query optimizer acts as a router. It classifies the query and extracts search keywords, improving retrieval quality before embedding.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prompt explicitly limits the model to the retrieved context, supports unknown-answer fallback, and preserves the user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chat endpoint orchestrates retrieval, generation, metrics logging, and returns the final answer with an interaction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Measuring and improving retrieval quality, generation quality, and runtime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model choices were MiniLM for embeddings, ChromaDB for vector search, and Azure OpenAI for routing and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PSO treats retrieval configuration as an optimization problem and searches for better retrieval and ranking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PSO design supports future continuous optimization without slowing down the live chat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MLflow was used to compare chunk size, chunk overlap, and retrieval K. The best observed experiment was chunk900_overlap100_k7.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MLflow screenshots show the comparison charts and full run table, allowing the team to select a stronger retrieval configuration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pipeline measured both retrieval quality and generated answer quality, because both are required in a RAG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full-system evaluation reported 93% retrieval hit rate, 73% semantic similarity, 2.7 seconds average latency, and 0.83% hallucination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improved from an early slow prototype toward a final average of 2.7 seconds, which is suitable for near real-time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controls include strict grounding, unknown-answer handling, numeric hallucination detection, and red-team testing against secret extraction and script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summarizes live interaction metrics such as errors, latency, retrieval quality, hallucination rate, user satisfaction, response length, and token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How the system was packaged, protected, monitored, and prepared for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VM approach was explored first, but Docker became the final deployment approach because it provides a consistent, portable runtime for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deployment pipeline uses Docker, Azure Container Registry, and Azure Web App Service, giving a cleaner path from local development to cloud hosting.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covers secret management, request validation, admin authentication, prompt guardrails, and hallucination risk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Retraining in this project means refreshing the RAG knowledge pipeline: ingesting new files, rebuilding embeddings, and evaluating before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continuous improvement loop connects runtime monitoring and user feedback to future knowledge refresh, retrieval optimization, and redeployment.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Connecting technical performance to measurable support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business perspective, the strongest impacts are response-time reduction, 24/7 availability, workload reduction, and cost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chatbot is not meant to remove all human agents. The business value is that it handles repetitive support volume at much lower marginal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major challenges were PDF table extraction, Arabic variations, Franco-Arabic queries, retrieval depth, deployment strategy, and continuous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focuses on richer knowledge, better informal query handling, live PSO, automated retraining, human escalation, and business system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message is that this is a complete RAG-based support system with both technical reliability and measurable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technical and business-related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8961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D5E8"/>
                </a:solidFill>
              </a:rPr>
              <a:t>AZURE AI RAG IMPLEMENTATION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97280" y="1234440"/>
            <a:ext cx="9966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 Chatbot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City Foam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280160" y="2528316"/>
            <a:ext cx="9601200" cy="118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B6C5"/>
                </a:solidFill>
              </a:rPr>
              <a:t>Final Project Presentation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A7B6C5"/>
                </a:solidFill>
              </a:rPr>
              <a:t>DEPI Microsoft ML Track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A7B6C5"/>
                </a:solidFill>
              </a:rPr>
              <a:t>Team CAI4_AIS2_G2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3822191"/>
            <a:ext cx="10424160" cy="2107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Ahmed Farahat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Bassel Wael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Mahmoud Osama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Mohamed Abdelfattah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Nora Mohamed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Sarah Abdulhamid</a:t>
            </a:r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C93"/>
                </a:solidFill>
              </a:rPr>
              <a:t>Opening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C7C93"/>
                </a:solidFill>
              </a:rPr>
              <a:t>01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path from business need to technical delivery.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Opening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81328" y="15361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1399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Strategic context &amp; problem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05840" y="21031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481328" y="22219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57400" y="20848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Data ingestion &amp; preprocessing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005840" y="2788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481328" y="29077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57400" y="2770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RAG architecture &amp; API design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05840" y="34747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481328" y="35935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57400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Optimization, MLflow &amp; evaluation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005840" y="41605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481328" y="42793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57400" y="41422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Deployment, security &amp; retraining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005840" y="4846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481328" y="4965192"/>
            <a:ext cx="45720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5740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Business KPIs &amp; future work</a:t>
            </a:r>
            <a:endParaRPr lang="en-US" dirty="0"/>
          </a:p>
        </p:txBody>
      </p:sp>
      <p:pic>
        <p:nvPicPr>
          <p:cNvPr id="28" name="Image 1" descr="/mnt/data/pptx_imgs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57400"/>
            <a:ext cx="1005840" cy="10058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5528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D5E8"/>
                </a:solidFill>
              </a:rPr>
              <a:t>A complete RAG-powered support system, not just a chatbot demo.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</a:t>
            </a:fld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Context &amp; Objectives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Why CityFoam needed a knowledge-grounded AI support layer.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Strategic Context &amp; Objectives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</a:t>
            </a:fld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Human-only support limits scalability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support creates latency, inconsistency, and cost pressure.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93"/>
                </a:solidFill>
              </a:rPr>
              <a:t>Context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93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17320"/>
            <a:ext cx="5833872" cy="33206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2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working hours reduce service availability
</a:t>
            </a:r>
            <a:r>
              <a:rPr lang="en-US" sz="2000" b="1" dirty="0">
                <a:solidFill>
                  <a:srgbClr val="02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product/policy search slows response time
</a:t>
            </a:r>
            <a:r>
              <a:rPr lang="en-US" sz="2000" b="1" dirty="0">
                <a:solidFill>
                  <a:srgbClr val="02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vary by agent experience
</a:t>
            </a:r>
            <a:r>
              <a:rPr lang="en-US" sz="2000" b="1" dirty="0">
                <a:solidFill>
                  <a:srgbClr val="02D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requires more staffing and training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629400" y="1417320"/>
            <a:ext cx="4389120" cy="3246120"/>
          </a:xfrm>
          <a:prstGeom prst="roundRect">
            <a:avLst>
              <a:gd name="adj" fmla="val 169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1" name="Image 1" descr="/mnt/data/pptx_imgs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15819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1581912"/>
            <a:ext cx="3566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Support bottleneck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30568" y="1929384"/>
            <a:ext cx="3986784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CityFoam customers ask about product prices, branches, refund policies, warranty, and product features. These requests are repetitive but require accurate and updated knowledge.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99516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</a:rPr>
              <a:t>24/7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699516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6C5"/>
                </a:solidFill>
              </a:rPr>
              <a:t>target availability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27532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</a:rPr>
              <a:t>&lt;3s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827532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6C5"/>
                </a:solidFill>
              </a:rPr>
              <a:t>target latency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555480" y="5029200"/>
            <a:ext cx="12801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</a:rPr>
              <a:t>0%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9555480" y="5669280"/>
            <a:ext cx="12801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6C5"/>
                </a:solidFill>
              </a:rPr>
              <a:t>target guesswork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900" b="0"/>
              <a:t>4</a:t>
            </a:fld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reliability and measurable business value were treated equally.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Context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508760"/>
            <a:ext cx="5074920" cy="3291840"/>
          </a:xfrm>
          <a:prstGeom prst="roundRect">
            <a:avLst>
              <a:gd name="adj" fmla="val 166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3" y="1673352"/>
            <a:ext cx="379307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1673352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Technical Excellence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86968" y="2020824"/>
            <a:ext cx="467258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Build a RAG pipeline using company documents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Retrieve exact context using semantic 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Support Arabic, English, and mixed queries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Reduce hallucination through grounded prompts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46520" y="1508760"/>
            <a:ext cx="5074920" cy="3291840"/>
          </a:xfrm>
          <a:prstGeom prst="roundRect">
            <a:avLst>
              <a:gd name="adj" fmla="val 166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709928"/>
            <a:ext cx="384048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04888" y="1673352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Business Value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647688" y="2020824"/>
            <a:ext cx="467258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Improve response time by around 91%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Enable 24/7 first-line customer support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Reduce repetitive support workload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Lower operational cost versus human-only support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051560" y="5166360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24712" y="521665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Grounded answers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560320" y="5166360"/>
            <a:ext cx="114300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633472" y="521665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 APIs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840480" y="5166360"/>
            <a:ext cx="14173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913632" y="521665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Azure deployment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903720" y="51663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976872" y="521665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Monitoring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8138160" y="5166360"/>
            <a:ext cx="105156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11312" y="521665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Retraining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372600" y="5166360"/>
            <a:ext cx="68580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45752" y="5216652"/>
            <a:ext cx="539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5</a:t>
            </a:fld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first-line support assistant grounded in CityFoam knowledge.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Context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06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0848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084832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1. Customer Query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423160" y="2633472"/>
            <a:ext cx="457200" cy="0"/>
          </a:xfrm>
          <a:prstGeom prst="line">
            <a:avLst/>
          </a:prstGeom>
          <a:noFill/>
          <a:ln w="19050">
            <a:solidFill>
              <a:srgbClr val="02D5E8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907792" y="192024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2119396"/>
            <a:ext cx="384048" cy="3149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084832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2. Query Optimization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90872" y="2633472"/>
            <a:ext cx="457200" cy="0"/>
          </a:xfrm>
          <a:prstGeom prst="line">
            <a:avLst/>
          </a:prstGeom>
          <a:noFill/>
          <a:ln w="19050">
            <a:solidFill>
              <a:srgbClr val="02D5E8"/>
            </a:solidFill>
            <a:prstDash val="solid"/>
            <a:headEnd type="non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175504" y="192024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pptx_imgs/image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467" y="2084832"/>
            <a:ext cx="379307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33872" y="2084832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3. Semantic Retrieval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58584" y="2633472"/>
            <a:ext cx="457200" cy="0"/>
          </a:xfrm>
          <a:prstGeom prst="line">
            <a:avLst/>
          </a:prstGeom>
          <a:noFill/>
          <a:ln w="19050">
            <a:solidFill>
              <a:srgbClr val="02D5E8"/>
            </a:solidFill>
            <a:prstDash val="solid"/>
            <a:headEnd type="none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7443216" y="192024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22" name="Image 4" descr="/mnt/data/pptx_imgs/image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492" y="2084832"/>
            <a:ext cx="374681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01584" y="2084832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4. Grounded Generation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9226296" y="2633472"/>
            <a:ext cx="457200" cy="0"/>
          </a:xfrm>
          <a:prstGeom prst="line">
            <a:avLst/>
          </a:prstGeom>
          <a:noFill/>
          <a:ln w="19050">
            <a:solidFill>
              <a:srgbClr val="02D5E8"/>
            </a:solidFill>
            <a:prstDash val="solid"/>
            <a:headEnd type="none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9710928" y="192024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26" name="Image 5" descr="/mnt/data/report_imgs/image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0" y="2171849"/>
            <a:ext cx="384048" cy="21001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69296" y="2084832"/>
            <a:ext cx="960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2D5E8"/>
                </a:solidFill>
              </a:rPr>
              <a:t>5. Monitored Answer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82880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D5E8"/>
                </a:solidFill>
              </a:rPr>
              <a:t>The LLM answers only after retrieving relevant company context.</a:t>
            </a:r>
            <a:endParaRPr lang="en-US" sz="2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6</a:t>
            </a:fld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boundaries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chatbot assists support; it does not replace all support operations.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C93"/>
                </a:solidFill>
              </a:rPr>
              <a:t>Context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C93"/>
                </a:solidFill>
              </a:rPr>
              <a:t>07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58191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Included in scope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1929384"/>
            <a:ext cx="471830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Product, price, branch, refund and warranty questions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Data ingestion and vector storage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Bilingual support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Monitoring and user feedback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Retraining and deployment workflow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158191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8E12"/>
                </a:solidFill>
              </a:rPr>
              <a:t>Outside scope / escalation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10528" y="1929384"/>
            <a:ext cx="4718304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Real payment processing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Modifying customer orders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Inventing missing product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Complex complaints needing human judgment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Unsupported requests outside the knowledge 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7</a:t>
            </a:fld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execution across four phases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documents to a deployed cloud service.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C93"/>
                </a:solidFill>
              </a:rPr>
              <a:t>Context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C93"/>
                </a:solidFill>
              </a:rPr>
              <a:t>08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37360" y="1828800"/>
            <a:ext cx="164592" cy="164592"/>
          </a:xfrm>
          <a:prstGeom prst="ellipse">
            <a:avLst/>
          </a:prstGeom>
          <a:solidFill>
            <a:srgbClr val="02D5E8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74520" y="1911096"/>
            <a:ext cx="233172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D5E8"/>
                </a:solidFill>
              </a:rPr>
              <a:t>Phase 1: Ingestion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Scraping, parsing, cleaning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26280" y="1828800"/>
            <a:ext cx="164592" cy="164592"/>
          </a:xfrm>
          <a:prstGeom prst="ellipse">
            <a:avLst/>
          </a:prstGeom>
          <a:solidFill>
            <a:srgbClr val="02D5E8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911096"/>
            <a:ext cx="233172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D5E8"/>
                </a:solidFill>
              </a:rPr>
              <a:t>Phase 2: RAG Pipeline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1188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Embeddings and ChromaDB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1828800"/>
            <a:ext cx="164592" cy="164592"/>
          </a:xfrm>
          <a:prstGeom prst="ellipse">
            <a:avLst/>
          </a:prstGeom>
          <a:solidFill>
            <a:srgbClr val="02D5E8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1911096"/>
            <a:ext cx="233172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D5E8"/>
                </a:solidFill>
              </a:rPr>
              <a:t>Phase 3: Optimization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Prompting, chunking, PSO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104120" y="1828800"/>
            <a:ext cx="164592" cy="164592"/>
          </a:xfrm>
          <a:prstGeom prst="ellipse">
            <a:avLst/>
          </a:prstGeom>
          <a:solidFill>
            <a:srgbClr val="02D5E8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11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D5E8"/>
                </a:solidFill>
              </a:rPr>
              <a:t>Phase 4: Deployment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Docker, ACR, Azure Web App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74520" y="4160519"/>
            <a:ext cx="8412480" cy="1401291"/>
          </a:xfrm>
          <a:prstGeom prst="roundRect">
            <a:avLst>
              <a:gd name="adj" fmla="val 521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75688" y="4325112"/>
            <a:ext cx="8010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2D5E8"/>
                </a:solidFill>
              </a:rPr>
              <a:t>Execution principle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075688" y="4672584"/>
            <a:ext cx="80101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Separate offline ingestion from online question-answering to keep runtime latency low and deployment predictable.</a:t>
            </a:r>
            <a:endParaRPr lang="en-US" sz="2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8</a:t>
            </a:fld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Integrated Azure-centric technology stack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components connected into one support workflow.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C93"/>
                </a:solidFill>
              </a:rPr>
              <a:t>Context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C93"/>
                </a:solidFill>
              </a:rPr>
              <a:t>09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" y="1371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5361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15361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FastAPI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86968" y="18836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API orchestration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0" y="1371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report_imgs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600433"/>
            <a:ext cx="384048" cy="2555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0368" y="15361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Azure OpenAI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73168" y="18836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Query routing + generation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13716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pptx_imgs/image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1570756"/>
            <a:ext cx="384048" cy="3149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6568" y="15361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MiniLM-L12-v2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659368" y="18836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Multilingual embeddings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85800" y="32004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22" name="Image 4" descr="/mnt/data/pptx_imgs/image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763" y="3364992"/>
            <a:ext cx="379307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44168" y="33649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ChromaDB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86968" y="37124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Persistent semantic memory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572000" y="32004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26" name="Image 5" descr="/mnt/data/pptx_imgs/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3403997"/>
            <a:ext cx="384048" cy="3060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33649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Docker + ACR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773168" y="37124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Container image lifecycle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8458200" y="320040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30" name="Image 6" descr="/mnt/data/report_imgs/image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3452009"/>
            <a:ext cx="384048" cy="21001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16568" y="336499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D5E8"/>
                </a:solidFill>
              </a:rPr>
              <a:t>MLflow + Dashboard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8659368" y="3712464"/>
            <a:ext cx="2935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Experiment and runtime tracking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9</a:t>
            </a:fld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&amp; Preprocessing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RAG quality starts with clean, structured, retrievable knowledge.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 Collection &amp; Preprocessing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10</a:t>
            </a:fld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sources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CityFoam support data was converted into searchable text.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report_img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675019"/>
            <a:ext cx="384048" cy="1978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Product &amp; price catalog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32688" y="1929384"/>
            <a:ext cx="298094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Product categories, mattress prices, sizes, heights, and specifications.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434840" y="141732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158191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9320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Refund policy document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36008" y="1929384"/>
            <a:ext cx="298094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Exchange, refund, warranty-related conditions, and inspection rules.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138160" y="141732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pptx_imgs/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1618488"/>
            <a:ext cx="384048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9652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Branches spreadsheet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339328" y="1929384"/>
            <a:ext cx="298094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Branch names, addresses, working hours, and location questions.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371600" y="53949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D5E8"/>
                </a:solidFill>
              </a:rPr>
              <a:t>Mixed formats forced the pipeline to handle structured and unstructured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11</a:t>
            </a:fld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3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ingestion pipeline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are parsed, normalized, chunked, embedded, and stored in ChromaDB.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Scan data/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78308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9456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771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Detect type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2900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84048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1363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 text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7492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48640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5955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Normalize Arabic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084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13232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0547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Split chunks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6676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77824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5139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012680" y="2523744"/>
            <a:ext cx="329184" cy="0"/>
          </a:xfrm>
          <a:prstGeom prst="line">
            <a:avLst/>
          </a:prstGeom>
          <a:noFill/>
          <a:ln w="1778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42416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111D2B"/>
          </a:solidFill>
          <a:ln w="12700">
            <a:solidFill>
              <a:srgbClr val="1B6AA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97312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C997"/>
                </a:solidFill>
              </a:rPr>
              <a:t>Store vectors</a:t>
            </a:r>
            <a:endParaRPr lang="en-US" sz="1050" dirty="0"/>
          </a:p>
        </p:txBody>
      </p:sp>
      <p:pic>
        <p:nvPicPr>
          <p:cNvPr id="29" name="Image 1" descr="/mnt/data/report_imgs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627" y="3119270"/>
            <a:ext cx="2680805" cy="36701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2960" y="4251960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2D5E8"/>
                </a:solidFill>
              </a:rPr>
              <a:t>Offline ingestion keeps online inference fast.</a:t>
            </a:r>
            <a:endParaRPr lang="en-US" sz="2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12</a:t>
            </a:fld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parsing routes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type uses the parser that preserves its information best.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58191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Spreadsheets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Pandas converts every row into a readable key-value record for branch/location queries.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58191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PDF documents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9028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PyMuPDF4LLM converts product catalogs into Markdown to preserve table relationships.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7888" y="158191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DOCX / TXT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4788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Unstructured extracts paragraphs, headings, and policy rules before chunking.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biggest improvement came from preserving product-table structure.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13</a:t>
            </a:fld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Solving the Arabic challenge with normalization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spelling variations can fragment semantic matching.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14</a:t>
            </a:r>
            <a:endParaRPr lang="en-US" sz="1000" dirty="0"/>
          </a:p>
        </p:txBody>
      </p:sp>
      <p:pic>
        <p:nvPicPr>
          <p:cNvPr id="9" name="Image 1" descr="/mnt/data/pptx_imgs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14880"/>
            <a:ext cx="1051560" cy="86227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6080" y="1371600"/>
            <a:ext cx="3931920" cy="3886200"/>
          </a:xfrm>
          <a:prstGeom prst="roundRect">
            <a:avLst>
              <a:gd name="adj" fmla="val 141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127248" y="1536192"/>
            <a:ext cx="3529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Normalization rules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127248" y="1883664"/>
            <a:ext cx="3529584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Alef variants → ا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Ta Marbuta → 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Alef Maqsura → 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Remove diacritics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Reduce mismatch from informal spelling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406640" y="1371600"/>
            <a:ext cx="3474720" cy="3886200"/>
          </a:xfrm>
          <a:prstGeom prst="roundRect">
            <a:avLst>
              <a:gd name="adj" fmla="val 157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07808" y="1536192"/>
            <a:ext cx="3072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607808" y="1883664"/>
            <a:ext cx="3072384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Customers may use formal Arabic, informal Arabic, English, or mixed inputs. Normalization improves retrieval before embedding.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14</a:t>
            </a:fld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 and chunking strategy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size controls the balance between context and precision.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1417320"/>
            <a:ext cx="374904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1581912"/>
            <a:ext cx="3346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Baseline setting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" y="1929384"/>
            <a:ext cx="334670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RecursiveCharacterTextSplitter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chunk_size = 1200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chunk_overlap = 200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120640" y="1600200"/>
            <a:ext cx="4572" cy="269748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3543300"/>
            <a:ext cx="1113246" cy="754380"/>
          </a:xfrm>
          <a:prstGeom prst="roundRect">
            <a:avLst>
              <a:gd name="adj" fmla="val 3636"/>
            </a:avLst>
          </a:prstGeom>
          <a:solidFill>
            <a:srgbClr val="E86A6A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84064" y="3314700"/>
            <a:ext cx="1186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A6A"/>
                </a:solidFill>
              </a:rPr>
              <a:t>30%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83480" y="4361688"/>
            <a:ext cx="1387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Too small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261497" y="1600200"/>
            <a:ext cx="4572" cy="269748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1497" y="2235708"/>
            <a:ext cx="1113246" cy="2061972"/>
          </a:xfrm>
          <a:prstGeom prst="roundRect">
            <a:avLst>
              <a:gd name="adj" fmla="val 2464"/>
            </a:avLst>
          </a:prstGeom>
          <a:solidFill>
            <a:srgbClr val="02D5E8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4921" y="2007108"/>
            <a:ext cx="1186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D5E8"/>
                </a:solidFill>
              </a:rPr>
              <a:t>82%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24337" y="4361688"/>
            <a:ext cx="1387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Balanced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402354" y="1600200"/>
            <a:ext cx="4572" cy="269748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02354" y="3166110"/>
            <a:ext cx="1113246" cy="1131570"/>
          </a:xfrm>
          <a:prstGeom prst="roundRect">
            <a:avLst>
              <a:gd name="adj" fmla="val 2464"/>
            </a:avLst>
          </a:prstGeom>
          <a:solidFill>
            <a:srgbClr val="C98E12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65778" y="2937510"/>
            <a:ext cx="1186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8E12"/>
                </a:solidFill>
              </a:rPr>
              <a:t>45%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65194" y="4361688"/>
            <a:ext cx="1387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Too large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011680" y="5257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Goal: preserve product/policy meaning without adding noisy context.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15</a:t>
            </a:fld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Golden query dataset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 covered realistic customer-support intents.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16</a:t>
            </a:r>
            <a:endParaRPr lang="en-US" sz="1000" dirty="0"/>
          </a:p>
        </p:txBody>
      </p:sp>
      <p:pic>
        <p:nvPicPr>
          <p:cNvPr id="9" name="Image 1" descr="/mnt/data/report_img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29071"/>
            <a:ext cx="4206240" cy="41998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1417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24728" y="1618488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PRICING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824728" y="1874520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5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5824728" y="2304288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queries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366760" y="1417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67928" y="1618488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POLICY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567928" y="1874520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5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8567928" y="2304288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queries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23560" y="26517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24728" y="2852928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LOCATION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824728" y="3108960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4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5824728" y="3538728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queries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366760" y="26517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67928" y="2852928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PRODUCT FEATURES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567928" y="3108960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4</a:t>
            </a:r>
            <a:endParaRPr lang="en-US" sz="3200" dirty="0"/>
          </a:p>
        </p:txBody>
      </p:sp>
      <p:sp>
        <p:nvSpPr>
          <p:cNvPr id="25" name="Text 21"/>
          <p:cNvSpPr/>
          <p:nvPr/>
        </p:nvSpPr>
        <p:spPr>
          <a:xfrm>
            <a:off x="8567928" y="3538728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queries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23560" y="38862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24728" y="4087368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WARRANTY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824728" y="4343400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98E12"/>
                </a:solidFill>
              </a:rPr>
              <a:t>3</a:t>
            </a:r>
            <a:endParaRPr lang="en-US" sz="3200" dirty="0"/>
          </a:p>
        </p:txBody>
      </p:sp>
      <p:sp>
        <p:nvSpPr>
          <p:cNvPr id="29" name="Text 25"/>
          <p:cNvSpPr/>
          <p:nvPr/>
        </p:nvSpPr>
        <p:spPr>
          <a:xfrm>
            <a:off x="5824728" y="4773168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queries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623560" y="516636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24728" y="533095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Coverage principle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824728" y="5559552"/>
            <a:ext cx="4718304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English, Arabic, and Franco-Arabic examples were included to reflect real support behavior.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16</a:t>
            </a:fld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validated knowledge-base readiness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profiling and vector-space analysis exposed retrieval risks early.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17</a:t>
            </a:r>
            <a:endParaRPr lang="en-US" sz="1000" dirty="0"/>
          </a:p>
        </p:txBody>
      </p:sp>
      <p:pic>
        <p:nvPicPr>
          <p:cNvPr id="9" name="Image 1" descr="/mnt/data/report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11075"/>
            <a:ext cx="5120640" cy="2115610"/>
          </a:xfrm>
          <a:prstGeom prst="rect">
            <a:avLst/>
          </a:prstGeom>
        </p:spPr>
      </p:pic>
      <p:pic>
        <p:nvPicPr>
          <p:cNvPr id="10" name="Image 2" descr="/mnt/data/report_imgs/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101" y="1234440"/>
            <a:ext cx="3520838" cy="24688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4251960"/>
            <a:ext cx="2240280" cy="1194964"/>
          </a:xfrm>
          <a:prstGeom prst="roundRect">
            <a:avLst>
              <a:gd name="adj" fmla="val 7273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15568" y="4453128"/>
            <a:ext cx="18379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PROCESSED CHUNKS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15568" y="4709160"/>
            <a:ext cx="18379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2D5E8"/>
                </a:solidFill>
              </a:rPr>
              <a:t>13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1115568" y="5138928"/>
            <a:ext cx="18379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stored in ChromaDB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0" y="4251959"/>
            <a:ext cx="2240280" cy="1194965"/>
          </a:xfrm>
          <a:prstGeom prst="roundRect">
            <a:avLst>
              <a:gd name="adj" fmla="val 7273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58768" y="4453128"/>
            <a:ext cx="18379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GOLDEN QUERIES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858768" y="4709160"/>
            <a:ext cx="18379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0C997"/>
                </a:solidFill>
              </a:rPr>
              <a:t>21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3858768" y="5138928"/>
            <a:ext cx="18379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representative tests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0" y="4251960"/>
            <a:ext cx="2240280" cy="1184148"/>
          </a:xfrm>
          <a:prstGeom prst="roundRect">
            <a:avLst>
              <a:gd name="adj" fmla="val 7273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01968" y="4453128"/>
            <a:ext cx="18379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INITIAL HIT RATE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601968" y="4709160"/>
            <a:ext cx="18379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98E12"/>
                </a:solidFill>
              </a:rPr>
              <a:t>85.71%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6601968" y="5138928"/>
            <a:ext cx="18379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EDA retrieval test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144000" y="4251960"/>
            <a:ext cx="2240280" cy="1184148"/>
          </a:xfrm>
          <a:prstGeom prst="roundRect">
            <a:avLst>
              <a:gd name="adj" fmla="val 7273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345168" y="4453128"/>
            <a:ext cx="18379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MISSES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9345168" y="4709160"/>
            <a:ext cx="18379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86A6A"/>
                </a:solidFill>
              </a:rPr>
              <a:t>3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9345168" y="5138928"/>
            <a:ext cx="18379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identified risks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17</a:t>
            </a:fld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error analysis led to pipeline improvements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failures were traced mainly to extraction and query-form mismatch.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1417320"/>
            <a:ext cx="484632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581912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6A6A"/>
                </a:solidFill>
              </a:rPr>
              <a:t>Product-table extraction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06440" y="1755648"/>
            <a:ext cx="658368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629400" y="1417320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1581912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Markdown conversion for PDFs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2404872"/>
            <a:ext cx="484632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2569464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8E12"/>
                </a:solidFill>
              </a:rPr>
              <a:t>English pricing mismatch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06440" y="2743200"/>
            <a:ext cx="658368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629400" y="2404872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2569464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Query optimization before retrieval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3392424"/>
            <a:ext cx="484632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3557016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8E12"/>
                </a:solidFill>
              </a:rPr>
              <a:t>Franco-Arabic ambiguity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06440" y="3730752"/>
            <a:ext cx="658368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629400" y="3392424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0568" y="3557016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Arabic normalization + rewriting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" y="4379976"/>
            <a:ext cx="484632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4128" y="4544568"/>
            <a:ext cx="4443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8E12"/>
                </a:solidFill>
              </a:rPr>
              <a:t>Incomplete retrieval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806440" y="4718304"/>
            <a:ext cx="658368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629400" y="4379976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30568" y="4544568"/>
            <a:ext cx="40782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Adaptive retrieval limits + PSO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18</a:t>
            </a:fld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processed corpus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vector database became the chatbot semantic memory.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19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554480"/>
            <a:ext cx="44805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363" y="1719072"/>
            <a:ext cx="379307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Document text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15568" y="2066544"/>
            <a:ext cx="4078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Cleaned and normalized chunks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554480"/>
            <a:ext cx="44805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636" y="1719072"/>
            <a:ext cx="374681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67728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Embedding vector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510528" y="2066544"/>
            <a:ext cx="4078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MiniLM numerical representation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14400" y="3383280"/>
            <a:ext cx="44805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report_imgs/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640979"/>
            <a:ext cx="384048" cy="1978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Metadata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15568" y="3895344"/>
            <a:ext cx="4078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source, type, chunk index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09360" y="3383280"/>
            <a:ext cx="44805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22" name="Image 4" descr="/mnt/data/pptx_imgs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323" y="3547872"/>
            <a:ext cx="379307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67728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Unique ID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510528" y="3895344"/>
            <a:ext cx="40782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stable storage and retrieval key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280160" y="548640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Runtime queries are compared against these stored vectors before generation.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19</a:t>
            </a:fld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RAG Pipeline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How the system retrieves, reasons, answers, and monitors.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 &amp; RAG Pipeline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20</a:t>
            </a:fld>
            <a:endParaRPr lang="en-US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high-level system architecture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API, retrieval, generation, monitoring, and admin workflow.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21</a:t>
            </a:r>
            <a:endParaRPr lang="en-US" sz="1000" dirty="0"/>
          </a:p>
        </p:txBody>
      </p:sp>
      <p:pic>
        <p:nvPicPr>
          <p:cNvPr id="9" name="Image 1" descr="/mnt/data/report_imgs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43" y="1417320"/>
            <a:ext cx="6205073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21</a:t>
            </a:fld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workflow: retrieve before generate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receives curated context, not unrestricted authority.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22</a:t>
            </a:r>
            <a:endParaRPr lang="en-US" sz="1000" dirty="0"/>
          </a:p>
        </p:txBody>
      </p:sp>
      <p:pic>
        <p:nvPicPr>
          <p:cNvPr id="9" name="Image 1" descr="/mnt/data/report_img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22" y="1417320"/>
            <a:ext cx="4076875" cy="4069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52160" y="132588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53328" y="149047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1. User query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53328" y="1837944"/>
            <a:ext cx="47183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Customer asks in Arabic, English, or mixed style.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52160" y="242316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53328" y="258775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2. Context retrieval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53328" y="2935224"/>
            <a:ext cx="47183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ChromaDB returns semantically relevant chunks.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52160" y="35204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53328" y="368503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3. Grounded answer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53328" y="4032504"/>
            <a:ext cx="47183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Azure OpenAI responds using only retrieved context.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52160" y="46177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3328" y="478231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4. Monitoring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053328" y="5129784"/>
            <a:ext cx="47183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Latency, retrieval quality, hallucination flags and ratings are logged.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22</a:t>
            </a:fld>
            <a:endParaRPr lang="en-US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 generation workflow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document embeddings and runtime query embeddings share one vector space.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63040"/>
            <a:ext cx="4846320" cy="3657600"/>
          </a:xfrm>
          <a:prstGeom prst="roundRect">
            <a:avLst>
              <a:gd name="adj" fmla="val 15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96" y="1627632"/>
            <a:ext cx="374681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Offline embedding phase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32688" y="1975104"/>
            <a:ext cx="4443984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Process raw files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Clean and normalize text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Split long documents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Encode each chunk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Store vectors in ChromaDB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0" y="1463040"/>
            <a:ext cx="4846320" cy="3657600"/>
          </a:xfrm>
          <a:prstGeom prst="roundRect">
            <a:avLst>
              <a:gd name="adj" fmla="val 15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763" y="1627632"/>
            <a:ext cx="379307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59168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Runtime embedding phase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601968" y="1975104"/>
            <a:ext cx="4443984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Normalize user query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Optimize query keywords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Encode query vector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Compare with stored vectors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Retrieve nearest chunks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23</a:t>
            </a:fld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ChromaDB as semantic memory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is adaptive instead of one fixed top_k for every query.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2914427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3115595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LIST QUERIES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78408" y="3371627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2D5E8"/>
                </a:solidFill>
              </a:rPr>
              <a:t>25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78408" y="3801395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larger recall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11880" y="2914427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13048" y="3115595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BRANCHES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13048" y="3371627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813048" y="3801395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location coverage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46520" y="2914427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47688" y="3115595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CATALOG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47688" y="3371627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8E12"/>
                </a:solidFill>
              </a:rPr>
              <a:t>25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647688" y="3801395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many similar items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281160" y="2914427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82328" y="3115595"/>
            <a:ext cx="19751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GENERAL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482328" y="3371627"/>
            <a:ext cx="19751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5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9482328" y="3801395"/>
            <a:ext cx="19751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focused context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24</a:t>
            </a:fld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optimization and intent routing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customer language is transformed into focused retrieval input.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35240" y="160020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165049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branches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635240" y="205740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08392" y="210769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policy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635240" y="251460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C98E12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08392" y="256489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catalog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635240" y="2971800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08392" y="302209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1417320"/>
            <a:ext cx="5212080" cy="3474720"/>
          </a:xfrm>
          <a:prstGeom prst="roundRect">
            <a:avLst>
              <a:gd name="adj" fmla="val 157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1" descr="/mnt/data/pptx_imgs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616476"/>
            <a:ext cx="384048" cy="3149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89888" y="1581912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Why optimization matters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32688" y="1929384"/>
            <a:ext cx="480974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Removes irrelevant conversational words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Classifies intent before search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Helps Arabic and Franco-Arabic queries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Improves product and policy matching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629400" y="3611880"/>
            <a:ext cx="4389120" cy="1188720"/>
          </a:xfrm>
          <a:prstGeom prst="roundRect">
            <a:avLst>
              <a:gd name="adj" fmla="val 4615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30568" y="3776472"/>
            <a:ext cx="3986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Example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30568" y="4123944"/>
            <a:ext cx="3986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bkam martabet perla? → product + price keywords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25</a:t>
            </a:fld>
            <a:endParaRPr lang="en-US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response generation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prompt enforces strict customer-support behavior.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141732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1581912"/>
            <a:ext cx="4215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86A6A"/>
                </a:solidFill>
              </a:rPr>
              <a:t>Zero hallucination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8408" y="1929384"/>
            <a:ext cx="4215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Only use retrieved knowledge-base context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41732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581912"/>
            <a:ext cx="4215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Unknown-answer handling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19088" y="1929384"/>
            <a:ext cx="4215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Say information is unavailable when missing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324612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410712"/>
            <a:ext cx="4215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Language lock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78408" y="3758184"/>
            <a:ext cx="4215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Reply in the same language as the query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324612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9088" y="3410712"/>
            <a:ext cx="4215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Context awareness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19088" y="3758184"/>
            <a:ext cx="4215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previous turns for follow-up questions</a:t>
            </a:r>
            <a:endParaRPr lang="en-US" sz="1400" dirty="0"/>
          </a:p>
        </p:txBody>
      </p:sp>
      <p:pic>
        <p:nvPicPr>
          <p:cNvPr id="21" name="Image 1" descr="/mnt/data/pptx_imgs/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039" y="5502543"/>
            <a:ext cx="758283" cy="7772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108960" y="5166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D5E8"/>
                </a:solidFill>
              </a:rPr>
              <a:t>Retrieved context + system rules → safe answer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26</a:t>
            </a:fld>
            <a:endParaRPr lang="en-US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Conversational memory and API integration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API design with frontend-managed short-term history.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5819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Short-term memory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3268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Previous messages are sent in the request history field to resolve pronouns and follow-ups.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43484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803" y="1581912"/>
            <a:ext cx="379307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9320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Long-term memory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3600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ChromaDB stores document embeddings and metadata as persistent semantic memory.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138160" y="141732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pptx_imgs/imag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158191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9652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339328" y="1929384"/>
            <a:ext cx="298094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/api/chat,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/api/rate,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/api/dashboard/metrics,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/api/upload-knowledge,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/api/trigger-retraining.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27</a:t>
            </a:fld>
            <a:endParaRPr lang="en-US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Optimization, MLflow &amp; Evaluation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Measuring and improving retrieval quality, generation quality, and runtime behavior.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Optimization, MLflow &amp; Evaluation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28</a:t>
            </a:fld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development choices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prioritizes multilingual retrieval and controlled generation.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29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525036"/>
            <a:ext cx="384048" cy="3149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Embedding model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32688" y="1837944"/>
            <a:ext cx="298094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sentence-transformers/paraphrase-multilingual-MiniLM-L12-v2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Lightweight, multilingual, suitable for Arabic/English similarity search.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34840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803" y="1490472"/>
            <a:ext cx="379307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9320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Vector database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36008" y="1837944"/>
            <a:ext cx="298094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ChromaDB persistent collection with text chunks, vectors, metadata, and IDs.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38160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8" name="Image 3" descr="/mnt/data/report_imgs/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1554713"/>
            <a:ext cx="384048" cy="2555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9652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Azure OpenAI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339328" y="1837944"/>
            <a:ext cx="298094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Query routing at temperature 0.0; final generation at temperature 0.2.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29</a:t>
            </a:fld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PSO-based retrieval optimization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 depends on multiple interacting parameters.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141732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46761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top_k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02152" y="146761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similarity_threshold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141732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02D5E8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146761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chunk_weight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41080" y="141732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20C997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146761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weight_semantic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2960" y="192024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20C997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197053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weight_keyword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29000" y="192024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20C997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02152" y="197053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weight_recency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1920240"/>
            <a:ext cx="1874520" cy="246888"/>
          </a:xfrm>
          <a:prstGeom prst="roundRect">
            <a:avLst>
              <a:gd name="adj" fmla="val 22222"/>
            </a:avLst>
          </a:prstGeom>
          <a:solidFill>
            <a:srgbClr val="17283B">
              <a:alpha val="90000"/>
            </a:srgbClr>
          </a:solidFill>
          <a:ln w="10160">
            <a:solidFill>
              <a:srgbClr val="20C997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197053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weight_authority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0" y="278892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2953512"/>
            <a:ext cx="43525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Optimization problem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5568" y="3300984"/>
            <a:ext cx="435254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No single fixed retrieval setup works for all query types. Too few chunks can miss answers; too many chunks add noisy context.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400800" y="278892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01968" y="2953512"/>
            <a:ext cx="43525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PSO approach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01968" y="3300984"/>
            <a:ext cx="435254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Each particle represents a parameter set. The cost is 1 - accuracy, so minimizing cost maximizes retrieval accuracy.</a:t>
            </a:r>
            <a:endParaRPr lang="en-US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30</a:t>
            </a:fld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PSO feedback loop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runs outside the live request path to avoid blocking users.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C93"/>
                </a:solidFill>
              </a:rPr>
              <a:t>Optimization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C93"/>
                </a:solidFill>
              </a:rPr>
              <a:t>31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192024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084832"/>
            <a:ext cx="13350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1. Log user queries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14600" y="2487168"/>
            <a:ext cx="438912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017520" y="192024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2084832"/>
            <a:ext cx="13350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2. Evaluate candidates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2487168"/>
            <a:ext cx="438912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192024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58968" y="2084832"/>
            <a:ext cx="13350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3. Update best params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2487168"/>
            <a:ext cx="438912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98080" y="192024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99248" y="2084832"/>
            <a:ext cx="13350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4. Atomic JSON write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235440" y="2487168"/>
            <a:ext cx="438912" cy="0"/>
          </a:xfrm>
          <a:prstGeom prst="line">
            <a:avLst/>
          </a:prstGeom>
          <a:noFill/>
          <a:ln w="15240">
            <a:solidFill>
              <a:srgbClr val="02D5E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738360" y="192024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39528" y="2084832"/>
            <a:ext cx="133502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5. API loads config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828800" y="4251959"/>
            <a:ext cx="8503920" cy="1715199"/>
          </a:xfrm>
          <a:prstGeom prst="roundRect">
            <a:avLst>
              <a:gd name="adj" fmla="val 521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29968" y="4416552"/>
            <a:ext cx="8101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98E12"/>
                </a:solidFill>
              </a:rPr>
              <a:t>Current status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029968" y="4764024"/>
            <a:ext cx="81015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PSO was implemented and tested as a separate optimization module; full runtime integration is positioned as future improvement.</a:t>
            </a:r>
            <a:endParaRPr lang="en-US" sz="2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100" b="0"/>
              <a:t>31</a:t>
            </a:fld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MLflow experiment tracking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C93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C93"/>
                </a:solidFill>
              </a:rPr>
              <a:t>32</a:t>
            </a:r>
            <a:endParaRPr lang="en-US" sz="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900" b="0"/>
              <a:t>32</a:t>
            </a:fld>
            <a:endParaRPr lang="en-US" sz="900"/>
          </a:p>
        </p:txBody>
      </p:sp>
      <p:pic>
        <p:nvPicPr>
          <p:cNvPr id="28" name="صورة 27">
            <a:extLst>
              <a:ext uri="{FF2B5EF4-FFF2-40B4-BE49-F238E27FC236}">
                <a16:creationId xmlns:a16="http://schemas.microsoft.com/office/drawing/2014/main" id="{B3F5B240-195F-4830-80A0-F5AE73F4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65" y="1088616"/>
            <a:ext cx="6639082" cy="1946527"/>
          </a:xfrm>
          <a:prstGeom prst="rect">
            <a:avLst/>
          </a:prstGeom>
        </p:spPr>
      </p:pic>
      <p:pic>
        <p:nvPicPr>
          <p:cNvPr id="29" name="صورة 28">
            <a:extLst>
              <a:ext uri="{FF2B5EF4-FFF2-40B4-BE49-F238E27FC236}">
                <a16:creationId xmlns:a16="http://schemas.microsoft.com/office/drawing/2014/main" id="{791108CE-B048-4CDD-A37E-5D6704EF8D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495"/>
          <a:stretch/>
        </p:blipFill>
        <p:spPr>
          <a:xfrm>
            <a:off x="6795247" y="1088616"/>
            <a:ext cx="5323422" cy="5291610"/>
          </a:xfrm>
          <a:prstGeom prst="rect">
            <a:avLst/>
          </a:prstGeom>
        </p:spPr>
      </p:pic>
      <p:pic>
        <p:nvPicPr>
          <p:cNvPr id="31" name="صورة 30">
            <a:extLst>
              <a:ext uri="{FF2B5EF4-FFF2-40B4-BE49-F238E27FC236}">
                <a16:creationId xmlns:a16="http://schemas.microsoft.com/office/drawing/2014/main" id="{075383F5-D7A3-49EB-903A-E07D543864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156165" y="3010476"/>
            <a:ext cx="6639082" cy="33697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MLflow results table and retrieval behavior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C7C93"/>
                </a:solidFill>
              </a:rPr>
              <a:t>Optimization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C7C93"/>
                </a:solidFill>
              </a:rPr>
              <a:t>33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1AD519CD-9511-486A-A8C8-5425137F8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85" y="1085788"/>
            <a:ext cx="9320749" cy="54704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methodology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RAG chatbot must be evaluated at retrieval and answer-generation levels.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5120640" cy="3474720"/>
          </a:xfrm>
          <a:prstGeom prst="roundRect">
            <a:avLst>
              <a:gd name="adj" fmla="val 157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0" name="Image 1" descr="/mnt/data/pptx_imgs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83" y="1581912"/>
            <a:ext cx="379307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58191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Retrieval quality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32688" y="1929384"/>
            <a:ext cx="471830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Checks whether the correct source chunks are retrieved before generation. If retrieval fails, generation cannot be reliable.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355080" y="1417320"/>
            <a:ext cx="5120640" cy="3474720"/>
          </a:xfrm>
          <a:prstGeom prst="roundRect">
            <a:avLst>
              <a:gd name="adj" fmla="val 157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4" name="Image 2" descr="/mnt/data/pptx_imgs/imag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356" y="1581912"/>
            <a:ext cx="374681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13448" y="158191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Answer quality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556248" y="1929384"/>
            <a:ext cx="471830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Measures BLEU, ROUGE, semantic similarity, latency, hallucination risk, and human feedback.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34</a:t>
            </a:fld>
            <a:endParaRPr lang="en-US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system evaluation results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retrieval, semantic alignment, latency, and hallucination control.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325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527048"/>
            <a:ext cx="165506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HIT RATE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6968" y="1783080"/>
            <a:ext cx="165506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93%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86968" y="2212848"/>
            <a:ext cx="16550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final system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71800" y="1325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2968" y="1527048"/>
            <a:ext cx="165506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BLEU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72968" y="1783080"/>
            <a:ext cx="165506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98E12"/>
                </a:solidFill>
              </a:rPr>
              <a:t>38%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172968" y="2212848"/>
            <a:ext cx="16550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lexical overlap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57800" y="1325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1527048"/>
            <a:ext cx="165506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ROUGE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58968" y="1783080"/>
            <a:ext cx="165506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50%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458968" y="2212848"/>
            <a:ext cx="16550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content overlap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43800" y="13258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44968" y="1527048"/>
            <a:ext cx="165506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SEMANTIC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44968" y="1783080"/>
            <a:ext cx="165506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73%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744968" y="2212848"/>
            <a:ext cx="165506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meaning match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829800" y="1325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30968" y="1527048"/>
            <a:ext cx="128930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HALLUC.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030968" y="1783080"/>
            <a:ext cx="128930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86A6A"/>
                </a:solidFill>
              </a:rPr>
              <a:t>0.83%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10030968" y="2212848"/>
            <a:ext cx="128930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low risk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143000" y="3063240"/>
            <a:ext cx="4572" cy="214884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3000" y="4465015"/>
            <a:ext cx="1062272" cy="747065"/>
          </a:xfrm>
          <a:prstGeom prst="roundRect">
            <a:avLst>
              <a:gd name="adj" fmla="val 3672"/>
            </a:avLst>
          </a:prstGeom>
          <a:solidFill>
            <a:srgbClr val="C98E12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6424" y="4236415"/>
            <a:ext cx="11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8E12"/>
                </a:solidFill>
              </a:rPr>
              <a:t>38%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" y="5276088"/>
            <a:ext cx="13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BLEU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323452" y="3063240"/>
            <a:ext cx="4572" cy="214884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23452" y="4229100"/>
            <a:ext cx="1062272" cy="982980"/>
          </a:xfrm>
          <a:prstGeom prst="roundRect">
            <a:avLst>
              <a:gd name="adj" fmla="val 2791"/>
            </a:avLst>
          </a:prstGeom>
          <a:solidFill>
            <a:srgbClr val="20C997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86876" y="4000500"/>
            <a:ext cx="11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97"/>
                </a:solidFill>
              </a:rPr>
              <a:t>50%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186292" y="5276088"/>
            <a:ext cx="13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ROUGE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03904" y="3063240"/>
            <a:ext cx="4572" cy="214884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03904" y="3776929"/>
            <a:ext cx="1062272" cy="1435151"/>
          </a:xfrm>
          <a:prstGeom prst="roundRect">
            <a:avLst>
              <a:gd name="adj" fmla="val 2582"/>
            </a:avLst>
          </a:prstGeom>
          <a:solidFill>
            <a:srgbClr val="02D5E8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67328" y="3548329"/>
            <a:ext cx="11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D5E8"/>
                </a:solidFill>
              </a:rPr>
              <a:t>73%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366744" y="5276088"/>
            <a:ext cx="13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Semantic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684356" y="3063240"/>
            <a:ext cx="4572" cy="214884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4356" y="3383737"/>
            <a:ext cx="1062272" cy="1828343"/>
          </a:xfrm>
          <a:prstGeom prst="roundRect">
            <a:avLst>
              <a:gd name="adj" fmla="val 2582"/>
            </a:avLst>
          </a:prstGeom>
          <a:solidFill>
            <a:srgbClr val="20C997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647780" y="3155137"/>
            <a:ext cx="11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97"/>
                </a:solidFill>
              </a:rPr>
              <a:t>93%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547196" y="5276088"/>
            <a:ext cx="13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Hit Rate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864808" y="3063240"/>
            <a:ext cx="4572" cy="2148840"/>
          </a:xfrm>
          <a:prstGeom prst="rect">
            <a:avLst/>
          </a:prstGeom>
          <a:noFill/>
          <a:ln w="12700">
            <a:solidFill>
              <a:srgbClr val="5C7C93">
                <a:alpha val="3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864808" y="3262437"/>
            <a:ext cx="1062272" cy="1949643"/>
          </a:xfrm>
          <a:prstGeom prst="roundRect">
            <a:avLst>
              <a:gd name="adj" fmla="val 2582"/>
            </a:avLst>
          </a:prstGeom>
          <a:solidFill>
            <a:srgbClr val="02D5E8">
              <a:alpha val="92000"/>
            </a:srgbClr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828232" y="3033837"/>
            <a:ext cx="11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D5E8"/>
                </a:solidFill>
              </a:rPr>
              <a:t>99.17%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9727648" y="5276088"/>
            <a:ext cx="13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7B6C5"/>
                </a:solidFill>
              </a:rPr>
              <a:t>No Halluc.</a:t>
            </a:r>
            <a:endParaRPr lang="en-US" sz="9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35</a:t>
            </a:fld>
            <a:endParaRPr lang="en-US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optimization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chunking and indexing reduced response time dramatically.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508760"/>
            <a:ext cx="6766560" cy="0"/>
          </a:xfrm>
          <a:prstGeom prst="line">
            <a:avLst/>
          </a:prstGeom>
          <a:noFill/>
          <a:ln w="7620">
            <a:solidFill>
              <a:srgbClr val="5C7C93">
                <a:alpha val="2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606040"/>
            <a:ext cx="6766560" cy="0"/>
          </a:xfrm>
          <a:prstGeom prst="line">
            <a:avLst/>
          </a:prstGeom>
          <a:noFill/>
          <a:ln w="7620">
            <a:solidFill>
              <a:srgbClr val="5C7C93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703320"/>
            <a:ext cx="6766560" cy="0"/>
          </a:xfrm>
          <a:prstGeom prst="line">
            <a:avLst/>
          </a:prstGeom>
          <a:noFill/>
          <a:ln w="7620">
            <a:solidFill>
              <a:srgbClr val="5C7C93">
                <a:alpha val="2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800600"/>
            <a:ext cx="6766560" cy="0"/>
          </a:xfrm>
          <a:prstGeom prst="line">
            <a:avLst/>
          </a:prstGeom>
          <a:noFill/>
          <a:ln w="7620">
            <a:solidFill>
              <a:srgbClr val="5C7C93">
                <a:alpha val="2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1508760"/>
            <a:ext cx="1691640" cy="724205"/>
          </a:xfrm>
          <a:prstGeom prst="line">
            <a:avLst/>
          </a:prstGeom>
          <a:noFill/>
          <a:ln w="25400">
            <a:solidFill>
              <a:srgbClr val="02D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2232965"/>
            <a:ext cx="1691640" cy="1053389"/>
          </a:xfrm>
          <a:prstGeom prst="line">
            <a:avLst/>
          </a:prstGeom>
          <a:noFill/>
          <a:ln w="25400">
            <a:solidFill>
              <a:srgbClr val="02D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3286354"/>
            <a:ext cx="1691640" cy="460858"/>
          </a:xfrm>
          <a:prstGeom prst="line">
            <a:avLst/>
          </a:prstGeom>
          <a:noFill/>
          <a:ln w="25400">
            <a:solidFill>
              <a:srgbClr val="02D5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9320" y="3747211"/>
            <a:ext cx="1691640" cy="164592"/>
          </a:xfrm>
          <a:prstGeom prst="line">
            <a:avLst/>
          </a:prstGeom>
          <a:noFill/>
          <a:ln w="25400">
            <a:solidFill>
              <a:srgbClr val="02D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3252" y="1467612"/>
            <a:ext cx="82296" cy="82296"/>
          </a:xfrm>
          <a:prstGeom prst="ellipse">
            <a:avLst/>
          </a:prstGeom>
          <a:solidFill>
            <a:srgbClr val="07111E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4892" y="2191817"/>
            <a:ext cx="82296" cy="82296"/>
          </a:xfrm>
          <a:prstGeom prst="ellipse">
            <a:avLst/>
          </a:prstGeom>
          <a:solidFill>
            <a:srgbClr val="07111E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56532" y="3245206"/>
            <a:ext cx="82296" cy="82296"/>
          </a:xfrm>
          <a:prstGeom prst="ellipse">
            <a:avLst/>
          </a:prstGeom>
          <a:solidFill>
            <a:srgbClr val="07111E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8172" y="3706063"/>
            <a:ext cx="82296" cy="82296"/>
          </a:xfrm>
          <a:prstGeom prst="ellipse">
            <a:avLst/>
          </a:prstGeom>
          <a:solidFill>
            <a:srgbClr val="07111E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39812" y="3870655"/>
            <a:ext cx="82296" cy="82296"/>
          </a:xfrm>
          <a:prstGeom prst="ellipse">
            <a:avLst/>
          </a:prstGeom>
          <a:solidFill>
            <a:srgbClr val="07111E"/>
          </a:solidFill>
          <a:ln w="12700">
            <a:solidFill>
              <a:srgbClr val="02D5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91032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6C5"/>
                </a:solidFill>
              </a:rPr>
              <a:t>Average response latency by development stage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1801368"/>
            <a:ext cx="20665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FINAL LATENCY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30768" y="2057400"/>
            <a:ext cx="20665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2.7s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8430768" y="2487168"/>
            <a:ext cx="20665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average response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2960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30768" y="3172968"/>
            <a:ext cx="20665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HUMAN BENCHMARK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430768" y="3429000"/>
            <a:ext cx="20665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98E12"/>
                </a:solidFill>
              </a:rPr>
              <a:t>30.0s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8430768" y="3858768"/>
            <a:ext cx="20665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estimated support response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229600" y="43434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30768" y="4544568"/>
            <a:ext cx="206654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REDUCTION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430768" y="4800600"/>
            <a:ext cx="206654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91%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8430768" y="5230368"/>
            <a:ext cx="206654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response-time improvement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36</a:t>
            </a:fld>
            <a:endParaRPr lang="en-US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68182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 and safety controls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designed to refuse unsupported or unsafe behavior.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37</a:t>
            </a:r>
            <a:endParaRPr lang="en-US" sz="1000" dirty="0"/>
          </a:p>
        </p:txBody>
      </p:sp>
      <p:pic>
        <p:nvPicPr>
          <p:cNvPr id="9" name="Image 1" descr="/mnt/data/pptx_imgs/image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82" y="1508760"/>
            <a:ext cx="2004997" cy="2011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46120" y="1325880"/>
            <a:ext cx="3749040" cy="1734591"/>
          </a:xfrm>
          <a:prstGeom prst="roundRect">
            <a:avLst>
              <a:gd name="adj" fmla="val 24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47288" y="1490472"/>
            <a:ext cx="3346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86A6A"/>
                </a:solidFill>
              </a:rPr>
              <a:t>Numeric hallucination guard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47288" y="1837944"/>
            <a:ext cx="334670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The detector flags generated numbers not found in retrieved context, reducing risk around prices, durations, sizes, and warranty values.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60920" y="635597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62088" y="800189"/>
            <a:ext cx="3346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Prompt-injection response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62088" y="1147661"/>
            <a:ext cx="334670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Grounded prompts and input safety checks prevent requests to reveal internal rules or execute unsafe script-like input.</a:t>
            </a:r>
            <a:endParaRPr lang="en-US" sz="1600" dirty="0"/>
          </a:p>
        </p:txBody>
      </p:sp>
      <p:pic>
        <p:nvPicPr>
          <p:cNvPr id="16" name="Image 2" descr="/mnt/data/report_imgs/image1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20" y="3092957"/>
            <a:ext cx="2316098" cy="3377363"/>
          </a:xfrm>
          <a:prstGeom prst="rect">
            <a:avLst/>
          </a:prstGeom>
        </p:spPr>
      </p:pic>
      <p:pic>
        <p:nvPicPr>
          <p:cNvPr id="17" name="Image 3" descr="/mnt/data/report_imgs/image1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472" y="3142767"/>
            <a:ext cx="2351808" cy="3413481"/>
          </a:xfrm>
          <a:prstGeom prst="rect">
            <a:avLst/>
          </a:prstGeom>
        </p:spPr>
      </p:pic>
      <p:pic>
        <p:nvPicPr>
          <p:cNvPr id="18" name="Image 4" descr="/mnt/data/report_imgs/image15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3952" y="3108197"/>
            <a:ext cx="2351808" cy="34226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37</a:t>
            </a:fld>
            <a:endParaRPr lang="en-US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dashboard and continuous testing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logs turn the chatbot into a maintainable 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Optimization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38</a:t>
            </a:r>
            <a:endParaRPr lang="en-US" sz="1000" dirty="0"/>
          </a:p>
        </p:txBody>
      </p:sp>
      <p:pic>
        <p:nvPicPr>
          <p:cNvPr id="9" name="Image 1" descr="/mnt/data/report_imgs/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60860"/>
            <a:ext cx="5730240" cy="4436528"/>
          </a:xfrm>
          <a:prstGeom prst="rect">
            <a:avLst/>
          </a:prstGeom>
        </p:spPr>
      </p:pic>
      <p:pic>
        <p:nvPicPr>
          <p:cNvPr id="10" name="Image 2" descr="/mnt/data/report_imgs/image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366" y="1557004"/>
            <a:ext cx="5832786" cy="44491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38</a:t>
            </a:fld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Deployment, Security &amp; MLOps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How the system was packaged, protected, monitored, and prepared for updates.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Deployment, Security &amp; MLOps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39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39</a:t>
            </a:fld>
            <a:endParaRPr lang="en-US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strategy: VM trial to Docker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was selected for reproducibility, portability, and cloud-readiness.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41732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581912"/>
            <a:ext cx="4718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Virtual Machine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929384"/>
            <a:ext cx="4718304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Direct control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Manual environment setup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Harder dependency reproduction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Slower updates and scaling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55080" y="141732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3" name="Image 1" descr="/mnt/data/pptx_img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620917"/>
            <a:ext cx="384048" cy="3060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13448" y="158191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Docker containerization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56248" y="1929384"/>
            <a:ext cx="4718304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runtime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Dependencies packaged in image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Portable across environments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Better ACR + Web App integration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40</a:t>
            </a:fld>
            <a:endParaRPr lang="en-US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deployment pipeline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image is built, pushed to ACR, and served by Azure Web App.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41</a:t>
            </a:r>
            <a:endParaRPr lang="en-US" sz="1000" dirty="0"/>
          </a:p>
        </p:txBody>
      </p:sp>
      <p:pic>
        <p:nvPicPr>
          <p:cNvPr id="9" name="Image 1" descr="/mnt/data/report_imgs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242" y="1417320"/>
            <a:ext cx="5570757" cy="1874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8404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1" name="Image 2" descr="/mnt/data/pptx_imgs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044077"/>
            <a:ext cx="384048" cy="3060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7276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Build image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115568" y="4352544"/>
            <a:ext cx="2706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build packages app and dependencies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63440" y="38404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5" name="Image 3" descr="/mnt/data/pptx_imgs/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41648"/>
            <a:ext cx="384048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2180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Push to ACR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864608" y="4352544"/>
            <a:ext cx="2706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Versioned container image stored securely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412480" y="384048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pic>
        <p:nvPicPr>
          <p:cNvPr id="19" name="Image 4" descr="/mnt/data/report_imgs/imag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069313"/>
            <a:ext cx="384048" cy="2555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7084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Web App pulls image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613648" y="4352544"/>
            <a:ext cx="2706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Azure hosts FastAPI + frontend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41</a:t>
            </a:fld>
            <a:endParaRPr lang="en-US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architecture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layers protect the API, prompts, secrets, and admin workflow.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Environment variables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77640" y="1463040"/>
            <a:ext cx="77724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98348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hardcoded secrets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Pydantic validation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77640" y="2286000"/>
            <a:ext cx="77724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98348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Reject malformed API input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Admin API key auth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77640" y="3108960"/>
            <a:ext cx="77724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983480" y="2971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Protect management endpoints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Prompt guardrails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977640" y="3931920"/>
            <a:ext cx="77724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98348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Refuse unsupported or unsafe requests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D5E8"/>
                </a:solidFill>
              </a:rPr>
              <a:t>Numeric guard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77640" y="4754880"/>
            <a:ext cx="777240" cy="0"/>
          </a:xfrm>
          <a:prstGeom prst="line">
            <a:avLst/>
          </a:prstGeom>
          <a:noFill/>
          <a:ln w="12700">
            <a:solidFill>
              <a:srgbClr val="1B6AA3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498348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Detect unsupported generated numbers</a:t>
            </a:r>
            <a:endParaRPr lang="en-US" sz="1200" dirty="0"/>
          </a:p>
        </p:txBody>
      </p:sp>
      <p:pic>
        <p:nvPicPr>
          <p:cNvPr id="24" name="Image 1" descr="/mnt/data/pptx_imgs/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316" y="2286000"/>
            <a:ext cx="802888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42</a:t>
            </a:fld>
            <a:endParaRPr lang="en-US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monitoring and retraining pipeline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updates are evaluated before being accepted into the 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43</a:t>
            </a:r>
            <a:endParaRPr lang="en-US" sz="1000" dirty="0"/>
          </a:p>
        </p:txBody>
      </p:sp>
      <p:pic>
        <p:nvPicPr>
          <p:cNvPr id="9" name="Image 1" descr="/mnt/data/report_imgs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28713"/>
            <a:ext cx="4937760" cy="44546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0" y="141732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01968" y="1581912"/>
            <a:ext cx="43525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601968" y="1929384"/>
            <a:ext cx="4352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Positive/negative ratings are linked to interaction IDs and aggregated in the dashboard.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0" y="278892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01968" y="2953512"/>
            <a:ext cx="43525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Retraining refresh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01968" y="3300984"/>
            <a:ext cx="4352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New files trigger ingestion, embedding regeneration, ChromaDB refresh, and re-evaluation.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0" y="416052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01968" y="4325112"/>
            <a:ext cx="43525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86A6A"/>
                </a:solidFill>
              </a:rPr>
              <a:t>Rollback rule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601968" y="4672584"/>
            <a:ext cx="4352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If degradation reaches 15% or more, the update is rejected and the previous stable version is restored.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43</a:t>
            </a:fld>
            <a:endParaRPr lang="en-US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improvement workflow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Deployment, monitoring, feedback, MLflow, PSO, and retraining form one loop.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118872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04688" y="1353312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0C997"/>
                </a:solidFill>
              </a:rPr>
              <a:t>Deploy container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98457" y="1877282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99625" y="2041874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Log interactions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89958" y="3424466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91126" y="3589058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Monitor dashboard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32610" y="4665212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3778" y="4829804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Track MLflow runs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74430" y="4665212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5598" y="4829804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Review feedback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17082" y="3424466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8250" y="3589058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Refresh knowledge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08583" y="1877282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09751" y="2041874"/>
            <a:ext cx="11521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2D5E8"/>
                </a:solidFill>
              </a:rPr>
              <a:t>Redeploy stable version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519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D5E8"/>
                </a:solidFill>
              </a:rPr>
              <a:t>Closed-loop MLOps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44</a:t>
            </a:fld>
            <a:endParaRPr lang="en-US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38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D5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KPI Impact &amp; Future Roadmap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54480" y="3127248"/>
            <a:ext cx="9144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Connecting technical performance to measurable support value.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 KPI Impact &amp; Future Roadmap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45</a:t>
            </a:fld>
            <a:endParaRPr lang="en-US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KPI impact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chatbot improves speed, availability, scalability, and cost efficiency.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527048"/>
            <a:ext cx="202082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RESPONSE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1783080"/>
            <a:ext cx="20208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2.7s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32688" y="2212848"/>
            <a:ext cx="202082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bot average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66160" y="13258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67328" y="1527048"/>
            <a:ext cx="202082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HUMAN BENCHMARK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67328" y="1783080"/>
            <a:ext cx="20208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98E12"/>
                </a:solidFill>
              </a:rPr>
              <a:t>30.0s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767328" y="2212848"/>
            <a:ext cx="202082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estimated support response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13258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1527048"/>
            <a:ext cx="202082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SPEED GAIN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01968" y="1783080"/>
            <a:ext cx="20208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C997"/>
                </a:solidFill>
              </a:rPr>
              <a:t>11.1x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601968" y="2212848"/>
            <a:ext cx="202082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faster than benchmark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235440" y="13258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11D2B">
              <a:alpha val="98000"/>
            </a:srgbClr>
          </a:solidFill>
          <a:ln w="12700">
            <a:solidFill>
              <a:srgbClr val="1B6AA3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36608" y="1527048"/>
            <a:ext cx="2020824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436608" y="1783080"/>
            <a:ext cx="20208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2D5E8"/>
                </a:solidFill>
              </a:rPr>
              <a:t>24/7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9436608" y="2212848"/>
            <a:ext cx="202082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6C5"/>
                </a:solidFill>
              </a:rPr>
              <a:t>first-line support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60120" y="2971800"/>
            <a:ext cx="4572000" cy="2103120"/>
          </a:xfrm>
          <a:prstGeom prst="roundRect">
            <a:avLst>
              <a:gd name="adj" fmla="val 260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61288" y="3136392"/>
            <a:ext cx="41696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Operational value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61288" y="3483864"/>
            <a:ext cx="416966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Repetitive inquiries handled automatically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Human agents focus on complex cases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answers from the knowledge base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720840" y="2971800"/>
            <a:ext cx="4572000" cy="2103120"/>
          </a:xfrm>
          <a:prstGeom prst="roundRect">
            <a:avLst>
              <a:gd name="adj" fmla="val 2609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2008" y="3136392"/>
            <a:ext cx="41696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Cost value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22008" y="3483864"/>
            <a:ext cx="416966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Approx. $100 monthly server cost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Compared with approx. $3,000 per agent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Around 96.7% estimated saving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46</a:t>
            </a:fld>
            <a:endParaRPr lang="en-US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Cost-efficiency: estimated 96.7% reduction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support scales differently from human-only staffing.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support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1737360"/>
            <a:ext cx="6766560" cy="411480"/>
          </a:xfrm>
          <a:prstGeom prst="roundRect">
            <a:avLst>
              <a:gd name="adj" fmla="val 8889"/>
            </a:avLst>
          </a:prstGeom>
          <a:solidFill>
            <a:srgbClr val="E86A6A">
              <a:alpha val="90000"/>
            </a:srgbClr>
          </a:solidFill>
          <a:ln w="12700">
            <a:solidFill>
              <a:srgbClr val="E86A6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0" y="1810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$3,000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CityFoam bot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26080" y="2743200"/>
            <a:ext cx="228600" cy="411480"/>
          </a:xfrm>
          <a:prstGeom prst="roundRect">
            <a:avLst>
              <a:gd name="adj" fmla="val 16000"/>
            </a:avLst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2816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08960" y="3977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D5E8"/>
                </a:solidFill>
              </a:rPr>
              <a:t>Estimated monthly operating comparison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47</a:t>
            </a:fld>
            <a:endParaRPr lang="en-US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faced and lessons learned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lessons came from real-world data and deployment constraints.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325880"/>
            <a:ext cx="3383280" cy="37490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149047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Data quality controls RAG quality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6968" y="1837944"/>
            <a:ext cx="298094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Messy PDF tables caused retrieval errors until Markdown extraction preserved relationships.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325880"/>
            <a:ext cx="3383280" cy="37490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149047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Preprocessing matters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36008" y="1837944"/>
            <a:ext cx="298094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Arabic normalization, chunking, and metadata design were as important as model selection.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1325880"/>
            <a:ext cx="3383280" cy="3749040"/>
          </a:xfrm>
          <a:prstGeom prst="roundRect">
            <a:avLst>
              <a:gd name="adj" fmla="val 1622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5048" y="1490472"/>
            <a:ext cx="298094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Monitoring is essential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85048" y="1837944"/>
            <a:ext cx="298094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Dashboards, MLflow, feedback, and retraining are required to keep the chatbot reliable after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48</a:t>
            </a:fld>
            <a:endParaRPr lang="en-US"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roadmap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beyond Q&amp;A toward an intelligent enterprise support workflow.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49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49047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Expand knowledge base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83794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More product files, FAQs, real conversations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149047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Improve Franco-Arabic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18888" y="183794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More examples + better rewriting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132588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05088" y="149047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Integrate PSO live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05088" y="183794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Apply optimized parameters at runtime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320040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336499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Automate retraining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371246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Scheduled refresh + validation + rollback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17720" y="320040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8888" y="336499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Human escalation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18888" y="371246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Transfer unresolved/sensitive cases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503920" y="320040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05088" y="3364992"/>
            <a:ext cx="28437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CRM &amp; inventory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705088" y="3712464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Order status, stock, support tickets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49</a:t>
            </a:fld>
            <a:endParaRPr lang="en-US"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2336" y="548640"/>
            <a:ext cx="50292" cy="502920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0352" y="502920"/>
            <a:ext cx="108813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conclusion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6070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RAG-based support automation system with technical and business value.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Business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50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68680" y="1325880"/>
            <a:ext cx="3291840" cy="3520440"/>
          </a:xfrm>
          <a:prstGeom prst="roundRect">
            <a:avLst>
              <a:gd name="adj" fmla="val 166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6984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2D5E8"/>
                </a:solidFill>
              </a:rPr>
              <a:t>Technical 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69848" y="1837944"/>
            <a:ext cx="288950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End-to-end RAG pipeline with ingestion, embeddings, ChromaDB, Azure OpenAI, FastAPI, monitoring, MLflow, retraining, Docker and Azure deployment.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325880"/>
            <a:ext cx="3291840" cy="3520440"/>
          </a:xfrm>
          <a:prstGeom prst="roundRect">
            <a:avLst>
              <a:gd name="adj" fmla="val 166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Measured outcome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36008" y="1837944"/>
            <a:ext cx="288950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93% final hit rate, 73% semantic similarity, 2.7s average latency, and 0.83% hallucination rate.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01000" y="1325880"/>
            <a:ext cx="3291840" cy="3520440"/>
          </a:xfrm>
          <a:prstGeom prst="roundRect">
            <a:avLst>
              <a:gd name="adj" fmla="val 1667"/>
            </a:avLst>
          </a:prstGeom>
          <a:solidFill>
            <a:srgbClr val="111D2B"/>
          </a:solidFill>
          <a:ln w="13970">
            <a:solidFill>
              <a:srgbClr val="1B6AA3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216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98E12"/>
                </a:solidFill>
              </a:rPr>
              <a:t>Business outcome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02168" y="1837944"/>
            <a:ext cx="2889504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Faster responses, 24/7 first-line support, lower workload, and lower estimated operating cost.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53492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AI-assisted support: automation for repetitive cases, humans for complex cases.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50</a:t>
            </a:fld>
            <a:endParaRPr lang="en-US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7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img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25996"/>
            <a:ext cx="12191695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23560" y="320040"/>
            <a:ext cx="96012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0" y="21945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D5E8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715000" y="2971800"/>
            <a:ext cx="777240" cy="32004"/>
          </a:xfrm>
          <a:prstGeom prst="rect">
            <a:avLst/>
          </a:prstGeom>
          <a:solidFill>
            <a:srgbClr val="02D5E8"/>
          </a:solidFill>
          <a:ln w="12700">
            <a:solidFill>
              <a:srgbClr val="02D5E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03120" y="3429000"/>
            <a:ext cx="7863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Thank you for your attention.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6C5"/>
                </a:solidFill>
              </a:rPr>
              <a:t>DEPI Microsoft ML Track | Team CAI4_AIS2_G2 |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C93"/>
                </a:solidFill>
              </a:rPr>
              <a:t>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C93"/>
                </a:solidFill>
              </a:rPr>
              <a:t>51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4DA6C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51</a:t>
            </a:fld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3824</Words>
  <Application>Microsoft Office PowerPoint</Application>
  <PresentationFormat>Widescreen</PresentationFormat>
  <Paragraphs>751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DEPI Microsoft Machine Learning 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RAG-Powered Intelligent Chatbot</dc:title>
  <dc:subject>CityFoam RAG-Powered Intelligent Chatbot Final Project Presentation</dc:subject>
  <dc:creator>Team CAI4_AIS2_G2</dc:creator>
  <cp:lastModifiedBy>Ahmed Farahat</cp:lastModifiedBy>
  <cp:revision>11</cp:revision>
  <dcterms:created xsi:type="dcterms:W3CDTF">2026-05-25T15:52:54Z</dcterms:created>
  <dcterms:modified xsi:type="dcterms:W3CDTF">2026-05-25T16:44:07Z</dcterms:modified>
</cp:coreProperties>
</file>